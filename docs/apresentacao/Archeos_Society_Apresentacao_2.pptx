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E80B14-B160-4726-A2D0-4ED9D796A8C6}">
  <a:tblStyle styleId="{1EE80B14-B160-4726-A2D0-4ED9D796A8C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5" Type="http://schemas.openxmlformats.org/officeDocument/2006/relationships/image" Target="../media/image3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hyperlink" Target="https://github.com/felipeSepulvida/Archeos-Society-GPMS" TargetMode="External"/><Relationship Id="rId5" Type="http://schemas.openxmlformats.org/officeDocument/2006/relationships/hyperlink" Target="https://github.com/felipeSepulvida/Archeos-Society-GPMS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38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jpg"/><Relationship Id="rId4" Type="http://schemas.openxmlformats.org/officeDocument/2006/relationships/image" Target="../media/image29.png"/><Relationship Id="rId5" Type="http://schemas.openxmlformats.org/officeDocument/2006/relationships/image" Target="../media/image3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39.png"/><Relationship Id="rId8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Relationship Id="rId4" Type="http://schemas.openxmlformats.org/officeDocument/2006/relationships/image" Target="../media/image46.png"/><Relationship Id="rId5" Type="http://schemas.openxmlformats.org/officeDocument/2006/relationships/image" Target="../media/image50.png"/><Relationship Id="rId6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8.png"/><Relationship Id="rId4" Type="http://schemas.openxmlformats.org/officeDocument/2006/relationships/hyperlink" Target="https://github.com/felipeSepulvida/Archeos-Society-GPMS" TargetMode="External"/><Relationship Id="rId5" Type="http://schemas.openxmlformats.org/officeDocument/2006/relationships/hyperlink" Target="https://github.com/felipeSepulvida/Archeos-Society-GPM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0" y="0"/>
            <a:ext cx="12191695" cy="6858000"/>
          </a:xfrm>
          <a:prstGeom prst="rtTriangle">
            <a:avLst/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718304" y="2057400"/>
            <a:ext cx="2743200" cy="2743200"/>
          </a:xfrm>
          <a:prstGeom prst="ellips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Archeos Society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Trabalho GPMS </a:t>
            </a:r>
            <a:r>
              <a:rPr lang="en-US" sz="2000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0" i="0" lang="en-US" sz="20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 2ª Apresentação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Diego Cruz Camargo  </a:t>
            </a:r>
            <a:r>
              <a:rPr lang="en-US" sz="1300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0" i="0" lang="en-US" sz="13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 Felipe Sepulvida Engel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3" title="Captura_de_Tela_2026-05-14_às_17.25.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6149" y="2683775"/>
            <a:ext cx="2179700" cy="149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1280160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645920" y="13258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Visão Geral do Produto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645920" y="17373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Status da entrega e demo da versão 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2834640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645920" y="28803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Controle de Versões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645920" y="32918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Repositório, estratégia de ramificação e fluxo de trabalho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4389120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645920" y="443484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Controle de Modificações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645920" y="4846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Gestão de tarefas no ClickUp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217920" y="1280160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315200" y="13258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Dificuldades e Decisões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315200" y="17373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Saída de integrante e migração tecnológica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217920" y="2834640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15200" y="28803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Monitoramento e Controle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315200" y="32918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Burndown, Gantt Planejado vs Real e Análise de Valor Agregado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217920" y="4389120"/>
            <a:ext cx="914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315200" y="443484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e Lições Aprendidas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315200" y="4846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Indicadores finais do projeto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 da Entrega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1188720"/>
            <a:ext cx="3657600" cy="201168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17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5"/>
          <p:cNvSpPr/>
          <p:nvPr/>
        </p:nvSpPr>
        <p:spPr>
          <a:xfrm>
            <a:off x="640080" y="19202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40080" y="26974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Escopo Entregue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361688" y="1188720"/>
            <a:ext cx="3657600" cy="201168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6008" y="1417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4544568" y="19202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40h / 40h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44568" y="26974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Horas Realizadas vs Planejadas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266176" y="1188720"/>
            <a:ext cx="3657600" cy="201168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40496" y="1417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/>
          <p:nvPr/>
        </p:nvSpPr>
        <p:spPr>
          <a:xfrm>
            <a:off x="8449056" y="192024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449056" y="26974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Dias de Atraso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57200" y="3566160"/>
            <a:ext cx="11247120" cy="283464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731520" y="3703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Resumo Executivo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31520" y="4160520"/>
            <a:ext cx="106984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Apesar da saída de um integrante logo no início e da consequente migração de stack tecnológica, o grupo entregou </a:t>
            </a:r>
            <a:r>
              <a:rPr b="1" i="0" lang="en-US" sz="14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100% do escopo planejado, dentro do prazo e dentro do orçamento de mão de obra estimado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O replanejamento ágil das tarefas, somado à decisão técnica de unificar frontend e backend em Next.js, foi determinante para o sucesso da entrega.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Controle de Versões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Repositório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6304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/>
          <p:nvPr/>
        </p:nvSpPr>
        <p:spPr>
          <a:xfrm>
            <a:off x="2926080" y="146304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2926080" y="192024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Hospedagem do código-fonte, artefatos do projeto e histórico de modificações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926080" y="2468880"/>
            <a:ext cx="8778240" cy="594360"/>
          </a:xfrm>
          <a:prstGeom prst="rect">
            <a:avLst/>
          </a:prstGeom>
          <a:solidFill>
            <a:srgbClr val="0F1F35"/>
          </a:solidFill>
          <a:ln cap="flat" cmpd="sng" w="12700">
            <a:solidFill>
              <a:srgbClr val="5BA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>
            <a:hlinkClick r:id="rId4"/>
          </p:cNvPr>
          <p:cNvSpPr/>
          <p:nvPr/>
        </p:nvSpPr>
        <p:spPr>
          <a:xfrm>
            <a:off x="3017520" y="246888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600"/>
              <a:buFont typeface="Consolas"/>
              <a:buNone/>
            </a:pPr>
            <a:r>
              <a:rPr b="1" i="0" lang="en-US" sz="1600" u="sng" cap="none" strike="noStrike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github.com/felipeSepulvida/Archeos-Society-GPMS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" y="3657600"/>
            <a:ext cx="3657600" cy="246888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" y="3840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/>
          <p:nvPr/>
        </p:nvSpPr>
        <p:spPr>
          <a:xfrm>
            <a:off x="731520" y="43891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Código-fonte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31520" y="480060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Aplicação Next.js + TypeScript com toda a lógica do jogo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361688" y="3657600"/>
            <a:ext cx="3657600" cy="246888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6008" y="3840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4636008" y="43891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Artefatos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636008" y="480060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EAP, cronograma, matriz de riscos e documentação técnica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266176" y="3657600"/>
            <a:ext cx="3657600" cy="246888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40496" y="3840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8540496" y="43891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Licença MIT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8540496" y="480060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Código público com licença aberta conforme especificação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Estratégia de Ramificação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57200" y="109728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Modelo Adotado: GitHub Flow Simplificado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57200" y="1600200"/>
            <a:ext cx="57607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Branch principal, sempre estável. Reflete o estado de produção do projeto.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5BA3E0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5BA3E0"/>
                </a:solidFill>
                <a:latin typeface="Consolas"/>
                <a:ea typeface="Consolas"/>
                <a:cs typeface="Consolas"/>
                <a:sym typeface="Consolas"/>
              </a:rPr>
              <a:t>feature/*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Branches de trabalho por funcionalidade. Após conclusão, merge direto em main.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57200" y="3840480"/>
            <a:ext cx="5760720" cy="228600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0233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/>
          <p:nvPr/>
        </p:nvSpPr>
        <p:spPr>
          <a:xfrm>
            <a:off x="1097280" y="40233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Justificativa da escolha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40080" y="4434840"/>
            <a:ext cx="53949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apenas 2 desenvolvedores ativos no projeto, modelos complexos como GitFlow (com develop, release, hotfix) gerariam mais sobrecarga de processo do que valor. O fluxo simplificado main + feature/* manteve a rastreabilidade do histórico e o isolamento entre tarefas, sem fricção desnecessária.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7"/>
          <p:cNvCxnSpPr/>
          <p:nvPr/>
        </p:nvCxnSpPr>
        <p:spPr>
          <a:xfrm>
            <a:off x="6858000" y="1828800"/>
            <a:ext cx="4754880" cy="0"/>
          </a:xfrm>
          <a:prstGeom prst="straightConnector1">
            <a:avLst/>
          </a:prstGeom>
          <a:noFill/>
          <a:ln cap="flat" cmpd="sng" w="508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7"/>
          <p:cNvSpPr/>
          <p:nvPr/>
        </p:nvSpPr>
        <p:spPr>
          <a:xfrm>
            <a:off x="6858000" y="14173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949440" y="1737360"/>
            <a:ext cx="182880" cy="182880"/>
          </a:xfrm>
          <a:prstGeom prst="ellipse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8412480" y="1737360"/>
            <a:ext cx="182880" cy="182880"/>
          </a:xfrm>
          <a:prstGeom prst="ellipse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9875520" y="1737360"/>
            <a:ext cx="182880" cy="182880"/>
          </a:xfrm>
          <a:prstGeom prst="ellipse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11338560" y="1737360"/>
            <a:ext cx="182880" cy="182880"/>
          </a:xfrm>
          <a:prstGeom prst="ellipse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" name="Google Shape;120;p7"/>
          <p:cNvCxnSpPr/>
          <p:nvPr/>
        </p:nvCxnSpPr>
        <p:spPr>
          <a:xfrm>
            <a:off x="7223760" y="1828800"/>
            <a:ext cx="1280160" cy="914400"/>
          </a:xfrm>
          <a:prstGeom prst="straightConnector1">
            <a:avLst/>
          </a:prstGeom>
          <a:noFill/>
          <a:ln cap="flat" cmpd="sng" w="38100">
            <a:solidFill>
              <a:srgbClr val="5BA3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7"/>
          <p:cNvCxnSpPr/>
          <p:nvPr/>
        </p:nvCxnSpPr>
        <p:spPr>
          <a:xfrm>
            <a:off x="8503920" y="2743200"/>
            <a:ext cx="0" cy="0"/>
          </a:xfrm>
          <a:prstGeom prst="straightConnector1">
            <a:avLst/>
          </a:prstGeom>
          <a:noFill/>
          <a:ln cap="flat" cmpd="sng" w="38100">
            <a:solidFill>
              <a:srgbClr val="5BA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7"/>
          <p:cNvSpPr/>
          <p:nvPr/>
        </p:nvSpPr>
        <p:spPr>
          <a:xfrm>
            <a:off x="7315200" y="27889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BA3E0"/>
                </a:solidFill>
                <a:latin typeface="Consolas"/>
                <a:ea typeface="Consolas"/>
                <a:cs typeface="Consolas"/>
                <a:sym typeface="Consolas"/>
              </a:rPr>
              <a:t>feature/baralho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7"/>
          <p:cNvCxnSpPr/>
          <p:nvPr/>
        </p:nvCxnSpPr>
        <p:spPr>
          <a:xfrm>
            <a:off x="8686800" y="1828800"/>
            <a:ext cx="1280160" cy="1280160"/>
          </a:xfrm>
          <a:prstGeom prst="straightConnector1">
            <a:avLst/>
          </a:prstGeom>
          <a:noFill/>
          <a:ln cap="flat" cmpd="sng" w="38100">
            <a:solidFill>
              <a:srgbClr val="5BA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7"/>
          <p:cNvSpPr/>
          <p:nvPr/>
        </p:nvSpPr>
        <p:spPr>
          <a:xfrm>
            <a:off x="8686800" y="31546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BA3E0"/>
                </a:solidFill>
                <a:latin typeface="Consolas"/>
                <a:ea typeface="Consolas"/>
                <a:cs typeface="Consolas"/>
                <a:sym typeface="Consolas"/>
              </a:rPr>
              <a:t>feature/expedicoes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7"/>
          <p:cNvCxnSpPr/>
          <p:nvPr/>
        </p:nvCxnSpPr>
        <p:spPr>
          <a:xfrm>
            <a:off x="10149840" y="1828800"/>
            <a:ext cx="1280160" cy="914400"/>
          </a:xfrm>
          <a:prstGeom prst="straightConnector1">
            <a:avLst/>
          </a:prstGeom>
          <a:noFill/>
          <a:ln cap="flat" cmpd="sng" w="38100">
            <a:solidFill>
              <a:srgbClr val="5BA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7"/>
          <p:cNvSpPr/>
          <p:nvPr/>
        </p:nvSpPr>
        <p:spPr>
          <a:xfrm>
            <a:off x="10241280" y="27889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BA3E0"/>
                </a:solidFill>
                <a:latin typeface="Consolas"/>
                <a:ea typeface="Consolas"/>
                <a:cs typeface="Consolas"/>
                <a:sym typeface="Consolas"/>
              </a:rPr>
              <a:t>feature/frontend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858000" y="39319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Cada feature isolada em sua branch </a:t>
            </a:r>
            <a:r>
              <a:rPr i="1" lang="en-US" sz="1100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1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merge na main após conclusão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858000" y="4480560"/>
            <a:ext cx="4846320" cy="164592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0880" y="4617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/>
          <p:nvPr/>
        </p:nvSpPr>
        <p:spPr>
          <a:xfrm>
            <a:off x="7452360" y="46177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Limitações reconhecidas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040880" y="4983480"/>
            <a:ext cx="4526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Não foram utilizados Pull Requests com revisão obrigatória nem proteção da branch main. Em uma equipe maior, esses controles seriam essenciais para garantir qualidade do código.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Controle de Modificações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ClickUp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57200" y="109728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Por que ClickUp?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Optamos pelo ClickUp em vez do GitHub Issues por três razões principais: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1F3A5C"/>
          </a:solidFill>
          <a:ln cap="flat" cmpd="sng" w="12700">
            <a:solidFill>
              <a:srgbClr val="5BA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1051560" y="21031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Visão consolidada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051560" y="251460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Integração nativa entre Gantt, lista de tarefas e estimativas em uma única ferramenta.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1F3A5C"/>
          </a:solidFill>
          <a:ln cap="flat" cmpd="sng" w="12700">
            <a:solidFill>
              <a:srgbClr val="5BA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1051560" y="34290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Estimativas e tempo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1051560" y="384048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Campos próprios para horas previstas e realizadas</a:t>
            </a:r>
            <a:r>
              <a:rPr lang="en-US" sz="1100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, sendo</a:t>
            </a: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fundamental para o monitoramento exigido.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57200" y="4754880"/>
            <a:ext cx="457200" cy="457200"/>
          </a:xfrm>
          <a:prstGeom prst="ellipse">
            <a:avLst/>
          </a:prstGeom>
          <a:solidFill>
            <a:srgbClr val="1F3A5C"/>
          </a:solidFill>
          <a:ln cap="flat" cmpd="sng" w="12700">
            <a:solidFill>
              <a:srgbClr val="5BA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57200" y="4754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051560" y="47548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Visualizações múltiplas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051560" y="516636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Mesmo conteúdo em modo Gantt, Board (Kanban) e Lista, conforme o contexto.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400800" y="1097280"/>
            <a:ext cx="5303520" cy="512064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12801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7086600" y="12801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O que registramos para cada tarefa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19476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/>
          <p:nvPr/>
        </p:nvSpPr>
        <p:spPr>
          <a:xfrm>
            <a:off x="6995160" y="18745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Título e descrição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Identificação clara do trabalho a ser feito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254203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6995160" y="246888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Responsável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Membro alocado à tarefa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313639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6995160" y="30632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Estimativa em horas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Esforço previsto (Planning Poker)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373075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6995160" y="365760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Horas realizadas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Tempo efetivamente gasto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43251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6995160" y="425196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Aberto, em andamento, concluído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49194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6995160" y="48463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 de início e fim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Para alimentar o Gantt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551383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6995160" y="544068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Dependências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Pré-requisitos entre tarefas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Crítica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Práticas Não Adotadas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Em um projeto profissional, três práticas seriam essenciais e foram deixadas de fora: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57200" y="1600200"/>
            <a:ext cx="3657600" cy="457200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83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/>
          <p:nvPr/>
        </p:nvSpPr>
        <p:spPr>
          <a:xfrm>
            <a:off x="1188720" y="17830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Pull Requests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85800" y="2331720"/>
            <a:ext cx="1463040" cy="274320"/>
          </a:xfrm>
          <a:prstGeom prst="rect">
            <a:avLst/>
          </a:prstGeom>
          <a:solidFill>
            <a:srgbClr val="3A1E1E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685800" y="23317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Não adotado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85800" y="2743200"/>
            <a:ext cx="3246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Merges diretos em main, sem revisão de código entre pares.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9"/>
          <p:cNvCxnSpPr/>
          <p:nvPr/>
        </p:nvCxnSpPr>
        <p:spPr>
          <a:xfrm>
            <a:off x="685800" y="3657600"/>
            <a:ext cx="3246120" cy="0"/>
          </a:xfrm>
          <a:prstGeom prst="straightConnector1">
            <a:avLst/>
          </a:prstGeom>
          <a:noFill/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9"/>
          <p:cNvSpPr/>
          <p:nvPr/>
        </p:nvSpPr>
        <p:spPr>
          <a:xfrm>
            <a:off x="685800" y="374904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85800" y="4023360"/>
            <a:ext cx="324612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Em equipes maiores, PRs garantem qualidade, conhecimento compartilhado e rastreabilidade das mudanças. Com 2 pessoas em comunicação síncrona constante, o custo do PR superou o benefício.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361688" y="1600200"/>
            <a:ext cx="3657600" cy="457200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0288" y="1783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/>
          <p:nvPr/>
        </p:nvSpPr>
        <p:spPr>
          <a:xfrm>
            <a:off x="5093208" y="17830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Actions (CI)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590288" y="2331720"/>
            <a:ext cx="1463040" cy="274320"/>
          </a:xfrm>
          <a:prstGeom prst="rect">
            <a:avLst/>
          </a:prstGeom>
          <a:solidFill>
            <a:srgbClr val="3A1E1E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4590288" y="23317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Não adotado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590288" y="2743200"/>
            <a:ext cx="3246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pipeline de integração contínua, testes automatizados ou deploy automático.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9"/>
          <p:cNvCxnSpPr/>
          <p:nvPr/>
        </p:nvCxnSpPr>
        <p:spPr>
          <a:xfrm>
            <a:off x="4590288" y="3657600"/>
            <a:ext cx="3246120" cy="0"/>
          </a:xfrm>
          <a:prstGeom prst="straightConnector1">
            <a:avLst/>
          </a:prstGeom>
          <a:noFill/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9"/>
          <p:cNvSpPr/>
          <p:nvPr/>
        </p:nvSpPr>
        <p:spPr>
          <a:xfrm>
            <a:off x="4590288" y="374904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590288" y="4023360"/>
            <a:ext cx="324612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Em um projeto com testes automatizados, CI rodaria a suíte a cada push. Como a validação foi majoritariamente manual, a ausência teve menos impacto no curto prazo.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8266176" y="1600200"/>
            <a:ext cx="3657600" cy="457200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4776" y="1783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8997696" y="17830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Review formal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8494776" y="2331720"/>
            <a:ext cx="1463040" cy="274320"/>
          </a:xfrm>
          <a:prstGeom prst="rect">
            <a:avLst/>
          </a:prstGeom>
          <a:solidFill>
            <a:srgbClr val="3A1E1E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8494776" y="23317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Não adotado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8494776" y="2743200"/>
            <a:ext cx="3246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Revisões aconteceram informalmente, via conversa entre os membros.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9"/>
          <p:cNvCxnSpPr/>
          <p:nvPr/>
        </p:nvCxnSpPr>
        <p:spPr>
          <a:xfrm>
            <a:off x="8494776" y="3657600"/>
            <a:ext cx="3246120" cy="0"/>
          </a:xfrm>
          <a:prstGeom prst="straightConnector1">
            <a:avLst/>
          </a:prstGeom>
          <a:noFill/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9"/>
          <p:cNvSpPr/>
          <p:nvPr/>
        </p:nvSpPr>
        <p:spPr>
          <a:xfrm>
            <a:off x="8494776" y="374904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8494776" y="4023360"/>
            <a:ext cx="324612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Em projetos reais, code reviews documentados ajudam a manter padrões e disseminar conhecimento técnico.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Dificuldade 1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Saída de Integrante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57200" y="1097280"/>
            <a:ext cx="5760720" cy="502920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801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/>
          <p:nvPr/>
        </p:nvSpPr>
        <p:spPr>
          <a:xfrm>
            <a:off x="1143000" y="12801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O que aconteceu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40080" y="182880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Logo no início do projeto, um dos três integrantes deixou a disciplina. O grupo passou de 3 para 2 pessoas, mantendo o mesmo escopo e o mesmo prazo definidos originalmente.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40080" y="32004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4560" y="3703320"/>
            <a:ext cx="54864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2926080" y="32004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640080" y="45720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2926080" y="45720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40080" y="50292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Carga de trabalho por desenvolvedor aumentou em 50%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0" y="12801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0"/>
          <p:cNvSpPr/>
          <p:nvPr/>
        </p:nvSpPr>
        <p:spPr>
          <a:xfrm>
            <a:off x="7086600" y="12801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Risco previsto na matriz inicial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6583680" y="1828800"/>
            <a:ext cx="4937760" cy="1417320"/>
          </a:xfrm>
          <a:prstGeom prst="rect">
            <a:avLst/>
          </a:prstGeom>
          <a:solidFill>
            <a:srgbClr val="0F1F35"/>
          </a:solidFill>
          <a:ln cap="flat" cmpd="sng" w="9525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6720840" y="1920240"/>
            <a:ext cx="4663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Risco: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Ausência de integrante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Probabilidade: 20%  </a:t>
            </a:r>
            <a:r>
              <a:rPr lang="en-US" sz="1000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0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 Impacto: 1,0  </a:t>
            </a:r>
            <a:r>
              <a:rPr lang="en-US" sz="1000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0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 Exposição: 0,2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Contingência prevista: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Realocação das tarefas para os outros membros e replanejamento dos prazos.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583680" y="34290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Resposta executada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583680" y="3794760"/>
            <a:ext cx="49377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Replanejamento de prazos: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tarefas redistribuídas entre os 2 membros restantes.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Decisão técnica de suporte: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migração para Next.js (próximo slide) para reduzir o esforço total.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Resultado: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100% do escopo entregue dentro do prazo original.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Decisão 2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Migração para Next.js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57200" y="10515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Para reduzir o esforço total e compensar a perda de capacidade da equipe, decidimos consolidar frontend e backend em uma única aplicação Next.js.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457200" y="1828800"/>
            <a:ext cx="5212080" cy="429768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640080" y="19659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40080" y="22860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+ TypeScript  +  Flask (Python)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40080" y="27889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Arquitetura cliente/servidor separada com comunicação via API REST.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429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1005840" y="338328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projetos para manter (frontend e backend)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9319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1"/>
          <p:cNvSpPr/>
          <p:nvPr/>
        </p:nvSpPr>
        <p:spPr>
          <a:xfrm>
            <a:off x="1005840" y="388620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Necessidade de definir e implementar contratos de API 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4348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/>
          <p:nvPr/>
        </p:nvSpPr>
        <p:spPr>
          <a:xfrm>
            <a:off x="1005840" y="438912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Gerenciamento de CORS, serialização, autenticação dupla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9377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/>
          <p:nvPr/>
        </p:nvSpPr>
        <p:spPr>
          <a:xfrm>
            <a:off x="1005840" y="489204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Mais código de glue entre as duas pontas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7" name="Google Shape;2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4406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1"/>
          <p:cNvSpPr/>
          <p:nvPr/>
        </p:nvSpPr>
        <p:spPr>
          <a:xfrm>
            <a:off x="1005840" y="539496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Maior esforço total de integração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6440" y="3749040"/>
            <a:ext cx="54864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/>
          <p:nvPr/>
        </p:nvSpPr>
        <p:spPr>
          <a:xfrm>
            <a:off x="6492240" y="1828800"/>
            <a:ext cx="5212080" cy="429768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6675120" y="19659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DEPOIS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6675120" y="22860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Next.js + TypeScript (full-stack)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6675120" y="27889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Aplicação única com Server Components e API Routes integrados.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4" name="Google Shape;26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40" y="3429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1"/>
          <p:cNvSpPr/>
          <p:nvPr/>
        </p:nvSpPr>
        <p:spPr>
          <a:xfrm>
            <a:off x="7040880" y="338328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 único projeto, uma única stack (TypeScript)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6" name="Google Shape;26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40" y="39319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1"/>
          <p:cNvSpPr/>
          <p:nvPr/>
        </p:nvSpPr>
        <p:spPr>
          <a:xfrm>
            <a:off x="7040880" y="388620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 Actions eliminam o boilerplate de API 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8" name="Google Shape;26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40" y="44348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1"/>
          <p:cNvSpPr/>
          <p:nvPr/>
        </p:nvSpPr>
        <p:spPr>
          <a:xfrm>
            <a:off x="7040880" y="438912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Tipagem compartilhada entre cliente e servidor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40" y="49377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1"/>
          <p:cNvSpPr/>
          <p:nvPr/>
        </p:nvSpPr>
        <p:spPr>
          <a:xfrm>
            <a:off x="7040880" y="489204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Menos código de glue, mais foco na lógica do jogo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2" name="Google Shape;27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40" y="54406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1"/>
          <p:cNvSpPr/>
          <p:nvPr/>
        </p:nvSpPr>
        <p:spPr>
          <a:xfrm>
            <a:off x="7040880" y="539496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Esforço total de desenvolvimento significativamente menor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Monitoramento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Burndown do Projeto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58952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2"/>
          <p:cNvSpPr/>
          <p:nvPr/>
        </p:nvSpPr>
        <p:spPr>
          <a:xfrm>
            <a:off x="8229600" y="1097280"/>
            <a:ext cx="3474720" cy="502920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5" name="Google Shape;28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248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2"/>
          <p:cNvSpPr/>
          <p:nvPr/>
        </p:nvSpPr>
        <p:spPr>
          <a:xfrm>
            <a:off x="8869680" y="1280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Leitura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8412480" y="1783080"/>
            <a:ext cx="32004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Semana 1</a:t>
            </a:r>
            <a:br>
              <a:rPr b="1" i="0" lang="en-US" sz="12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Pequeno atraso entre 15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18/04 no desenvolvimento do baralho. Linha real fica acima da planejada.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Semana 2</a:t>
            </a:r>
            <a:br>
              <a:rPr b="1" i="0" lang="en-US" sz="1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Recuperação completa do atraso. Linhas se reaproximam.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Semanas 3 e 4</a:t>
            </a:r>
            <a:br>
              <a:rPr b="1" i="0" lang="en-US" sz="1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Execução em linha com o planejado. Entrega final em 09/05, zerando as horas restantes no prazo.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Monitoramento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Gantt Planejado vs Real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gantt-1.jpg" id="297" name="Google Shape;2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05840"/>
            <a:ext cx="77724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3"/>
          <p:cNvSpPr/>
          <p:nvPr/>
        </p:nvSpPr>
        <p:spPr>
          <a:xfrm>
            <a:off x="8321040" y="1097280"/>
            <a:ext cx="3383280" cy="502920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9" name="Google Shape;29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392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3"/>
          <p:cNvSpPr/>
          <p:nvPr/>
        </p:nvSpPr>
        <p:spPr>
          <a:xfrm>
            <a:off x="8961120" y="12801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Resumo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8503920" y="1828800"/>
            <a:ext cx="274320" cy="164592"/>
          </a:xfrm>
          <a:prstGeom prst="rect">
            <a:avLst/>
          </a:prstGeom>
          <a:solidFill>
            <a:srgbClr val="8BB4E0"/>
          </a:solidFill>
          <a:ln cap="flat" cmpd="sng" w="12700">
            <a:solidFill>
              <a:srgbClr val="8BB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8869680" y="175564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Planejado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8503920" y="2121408"/>
            <a:ext cx="274320" cy="164592"/>
          </a:xfrm>
          <a:prstGeom prst="rect">
            <a:avLst/>
          </a:prstGeom>
          <a:solidFill>
            <a:srgbClr val="4ADE80"/>
          </a:solidFill>
          <a:ln cap="flat" cmpd="sng" w="127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8869680" y="204825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no prazo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8503920" y="2414016"/>
            <a:ext cx="274320" cy="164592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8869680" y="2340864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atrasado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8503920" y="27432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Pontos críticos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8503920" y="310896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Baralho (S1):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atraso pontual no shuffle/RNG, recuperado.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r>
              <a:rPr b="0" i="0" lang="en-US" sz="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Display/Mão (S4):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folga consumida no fim do projeto, entregue dentro do prazo.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13"/>
          <p:cNvCxnSpPr/>
          <p:nvPr/>
        </p:nvCxnSpPr>
        <p:spPr>
          <a:xfrm>
            <a:off x="8503920" y="5029200"/>
            <a:ext cx="3017520" cy="0"/>
          </a:xfrm>
          <a:prstGeom prst="straightConnector1">
            <a:avLst/>
          </a:prstGeom>
          <a:noFill/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10" name="Google Shape;31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3920" y="52120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3"/>
          <p:cNvSpPr/>
          <p:nvPr/>
        </p:nvSpPr>
        <p:spPr>
          <a:xfrm>
            <a:off x="8915400" y="516636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Entrega: 09/05 conforme cronograma original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de Valor Agregado (EVA)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457200" y="1051560"/>
            <a:ext cx="11247120" cy="77724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640080" y="114300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Premissas: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 (Budget at Completion) = R$ 2.000,00 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40h × R$ 50/h (mão de obra)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4 sprints × 10h.  Cada sprint representa 25% do trabalho planejado.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3" name="Google Shape;323;p14"/>
          <p:cNvGraphicFramePr/>
          <p:nvPr/>
        </p:nvGraphicFramePr>
        <p:xfrm>
          <a:off x="45720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{1EE80B14-B160-4726-A2D0-4ED9D796A8C6}</a:tableStyleId>
              </a:tblPr>
              <a:tblGrid>
                <a:gridCol w="822950"/>
                <a:gridCol w="1828800"/>
                <a:gridCol w="1280150"/>
                <a:gridCol w="1280150"/>
                <a:gridCol w="1280150"/>
                <a:gridCol w="1280150"/>
                <a:gridCol w="1280150"/>
                <a:gridCol w="1097275"/>
                <a:gridCol w="10972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Período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PV (R$)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 (R$)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 (R$)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 (R$)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 (R$)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A5C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C5D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B8C5D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12/04 </a:t>
                      </a:r>
                      <a:r>
                        <a:rPr lang="en-US" sz="1100">
                          <a:solidFill>
                            <a:srgbClr val="B8C5D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en-US" sz="1100" u="none" cap="none" strike="noStrike">
                          <a:solidFill>
                            <a:srgbClr val="B8C5D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18/04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525,00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BF2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BBF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BF2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BBF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-65,00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BF2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BBF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BF2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BBF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C5D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B8C5D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19/04 </a:t>
                      </a:r>
                      <a:r>
                        <a:rPr lang="en-US" sz="1100">
                          <a:solidFill>
                            <a:srgbClr val="B8C5D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en-US" sz="1100" u="none" cap="none" strike="noStrike">
                          <a:solidFill>
                            <a:srgbClr val="B8C5D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25/04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1.025,00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BF2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BBF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-25,00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BF2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BBF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C5D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B8C5D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26/04 </a:t>
                      </a:r>
                      <a:r>
                        <a:rPr lang="en-US" sz="1100">
                          <a:solidFill>
                            <a:srgbClr val="B8C5D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en-US" sz="1100" u="none" cap="none" strike="noStrike">
                          <a:solidFill>
                            <a:srgbClr val="B8C5D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02/05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1.500,00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1.500,00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1.500,00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C5D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B8C5D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03/05 </a:t>
                      </a:r>
                      <a:r>
                        <a:rPr lang="en-US" sz="1100">
                          <a:solidFill>
                            <a:srgbClr val="B8C5D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en-US" sz="1100" u="none" cap="none" strike="noStrike">
                          <a:solidFill>
                            <a:srgbClr val="B8C5D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09/05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5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324" name="Google Shape;324;p14"/>
          <p:cNvSpPr/>
          <p:nvPr/>
        </p:nvSpPr>
        <p:spPr>
          <a:xfrm>
            <a:off x="457200" y="4434840"/>
            <a:ext cx="11247120" cy="173736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640080" y="45262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Fórmulas e leitura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640080" y="49377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PV (Planned Value)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Valor planejado para o trabalho previsto até a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4389120" y="49377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EV (Earned Value)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Valor do trabalho efetivamente concluído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8138160" y="49377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AC (Actual Cost)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Custo real incorrido até a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640080" y="54864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SV = EV − PV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Variação de cronograma. &gt; 0 adiantado, &lt; 0 atrasado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4389120" y="54864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CV = EV − AC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Variação de custo. &gt; 0 abaixo, &lt; 0 acima do orçado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8138160" y="54864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SPI = EV / PV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Índice de desempenho de cronograma. 1,0 = no prazo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 </a:t>
            </a: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Índices de Desempenho por Sprint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58952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/>
          <p:cNvSpPr/>
          <p:nvPr/>
        </p:nvSpPr>
        <p:spPr>
          <a:xfrm>
            <a:off x="8229600" y="1097280"/>
            <a:ext cx="3474720" cy="502920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8412480" y="12801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Indicadores Finais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8412480" y="17830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CPI 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8412480" y="20574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1,00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8412480" y="25603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Eficiência de custo ideal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8412480" y="286207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SPI 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8412480" y="313639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1,00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8412480" y="363931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Cronograma cumprido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8412480" y="39410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EAC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8412480" y="4215384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R$ 2.000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8412480" y="471830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Estimativa ao término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8412480" y="502005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VAC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8412480" y="5294376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R$ 0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8412480" y="579729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Variância no término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6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6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Finais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Mesmo com a saída de um integrante e a migração de stack, o projeto foi entregue dentro do escopo, do prazo e do orçamento.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457200" y="1737360"/>
            <a:ext cx="3657600" cy="201168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9659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6"/>
          <p:cNvSpPr/>
          <p:nvPr/>
        </p:nvSpPr>
        <p:spPr>
          <a:xfrm>
            <a:off x="640080" y="24231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640080" y="3246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Escopo entregue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4361688" y="1737360"/>
            <a:ext cx="3657600" cy="201168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6008" y="19659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6"/>
          <p:cNvSpPr/>
          <p:nvPr/>
        </p:nvSpPr>
        <p:spPr>
          <a:xfrm>
            <a:off x="4544568" y="24231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40h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4544568" y="3246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Horas planejadas e realizadas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8266176" y="1737360"/>
            <a:ext cx="3657600" cy="201168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40496" y="19659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6"/>
          <p:cNvSpPr/>
          <p:nvPr/>
        </p:nvSpPr>
        <p:spPr>
          <a:xfrm>
            <a:off x="8449056" y="24231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1,00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8449056" y="3246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SPI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457200" y="3977640"/>
            <a:ext cx="3657600" cy="201168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9" name="Google Shape;37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" y="4206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6"/>
          <p:cNvSpPr/>
          <p:nvPr/>
        </p:nvSpPr>
        <p:spPr>
          <a:xfrm>
            <a:off x="640080" y="46634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1,00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640080" y="548640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CPI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4361688" y="3977640"/>
            <a:ext cx="3657600" cy="201168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6008" y="4206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6"/>
          <p:cNvSpPr/>
          <p:nvPr/>
        </p:nvSpPr>
        <p:spPr>
          <a:xfrm>
            <a:off x="4544568" y="46634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4544568" y="548640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Riscos materializados não tratados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8266176" y="3977640"/>
            <a:ext cx="3657600" cy="201168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7" name="Google Shape;38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40496" y="4206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6"/>
          <p:cNvSpPr/>
          <p:nvPr/>
        </p:nvSpPr>
        <p:spPr>
          <a:xfrm>
            <a:off x="8449056" y="46634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8449056" y="548640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Dias de atraso na entrega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7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7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Lições Aprendidas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457200" y="1097280"/>
            <a:ext cx="5486400" cy="237744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7"/>
          <p:cNvSpPr/>
          <p:nvPr/>
        </p:nvSpPr>
        <p:spPr>
          <a:xfrm>
            <a:off x="640080" y="123444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1" name="Google Shape;4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325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7"/>
          <p:cNvSpPr/>
          <p:nvPr/>
        </p:nvSpPr>
        <p:spPr>
          <a:xfrm>
            <a:off x="1645920" y="123444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análise de riscos prévia teve valor concreto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685800" y="2011680"/>
            <a:ext cx="50292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O risco "Ausência de integrante" foi identificado no planejamento com contingência explícita. Quando ele se materializou, a equipe já sabia o que fazer</a:t>
            </a:r>
            <a:r>
              <a:rPr lang="en-US" sz="1100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evitando uma</a:t>
            </a: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paralisia, apenas execução do plano.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6217920" y="1097280"/>
            <a:ext cx="5486400" cy="237744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7"/>
          <p:cNvSpPr/>
          <p:nvPr/>
        </p:nvSpPr>
        <p:spPr>
          <a:xfrm>
            <a:off x="6400800" y="123444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6" name="Google Shape;40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64240" y="1325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7"/>
          <p:cNvSpPr/>
          <p:nvPr/>
        </p:nvSpPr>
        <p:spPr>
          <a:xfrm>
            <a:off x="7406640" y="123444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Decisões técnicas devem responder a restrições do projeto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6446520" y="2011680"/>
            <a:ext cx="50292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A migração para Next.js não foi motivada por preferência tecnológica, mas pela necessidade de reduzir esforço total após a redução da equipe. Boas decisões técnicas servem ao gerenciamento, não competem com ele.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457200" y="3657600"/>
            <a:ext cx="5486400" cy="237744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640080" y="379476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1" name="Google Shape;41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0" y="3886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7"/>
          <p:cNvSpPr/>
          <p:nvPr/>
        </p:nvSpPr>
        <p:spPr>
          <a:xfrm>
            <a:off x="1645920" y="379476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Processo deve ser proporcional ao tamanho do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685800" y="4572000"/>
            <a:ext cx="50292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Optar por GitHub Flow simplificado em vez de GitFlow, e abrir mão de PRs e CI, foram escolhas conscientes para um time de 2 pessoas. Em um time maior ou em produção, essas práticas seriam obrigatórias.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6217920" y="3657600"/>
            <a:ext cx="5486400" cy="2377440"/>
          </a:xfrm>
          <a:prstGeom prst="rect">
            <a:avLst/>
          </a:prstGeom>
          <a:solidFill>
            <a:srgbClr val="0F1A2E"/>
          </a:solidFill>
          <a:ln cap="flat" cmpd="sng" w="12700">
            <a:solidFill>
              <a:srgbClr val="2A4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6400800" y="3794760"/>
            <a:ext cx="91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6" name="Google Shape;41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64240" y="3886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7"/>
          <p:cNvSpPr/>
          <p:nvPr/>
        </p:nvSpPr>
        <p:spPr>
          <a:xfrm>
            <a:off x="7406640" y="379476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Monitoramento contínuo evita surpresas no 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6446520" y="4572000"/>
            <a:ext cx="50292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O acompanhamento semanal via Burndown e o registro detalhado de horas no ClickUp permitiram identificar o atraso da Sprint 1 ainda no início e replanejar a Sprint 2 para recuperá-lo.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8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8"/>
          <p:cNvSpPr/>
          <p:nvPr/>
        </p:nvSpPr>
        <p:spPr>
          <a:xfrm rot="5400000">
            <a:off x="10515600" y="0"/>
            <a:ext cx="1691640" cy="777240"/>
          </a:xfrm>
          <a:prstGeom prst="triangle">
            <a:avLst>
              <a:gd fmla="val 50000" name="adj"/>
            </a:avLst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8"/>
          <p:cNvSpPr/>
          <p:nvPr/>
        </p:nvSpPr>
        <p:spPr>
          <a:xfrm>
            <a:off x="11155680" y="6126480"/>
            <a:ext cx="1033272" cy="731520"/>
          </a:xfrm>
          <a:prstGeom prst="rtTriangl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8"/>
          <p:cNvSpPr/>
          <p:nvPr/>
        </p:nvSpPr>
        <p:spPr>
          <a:xfrm>
            <a:off x="457200" y="914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Demonstração do Produto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8" name="Google Shape;4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2011680"/>
            <a:ext cx="155448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8"/>
          <p:cNvSpPr/>
          <p:nvPr/>
        </p:nvSpPr>
        <p:spPr>
          <a:xfrm>
            <a:off x="457200" y="3749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ao vivo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Versão final da aplicação Archeos Society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3200400" y="5120640"/>
            <a:ext cx="5760720" cy="594360"/>
          </a:xfrm>
          <a:prstGeom prst="rect">
            <a:avLst/>
          </a:prstGeom>
          <a:solidFill>
            <a:srgbClr val="0F1F35"/>
          </a:solidFill>
          <a:ln cap="flat" cmpd="sng" w="12700">
            <a:solidFill>
              <a:srgbClr val="5BA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8">
            <a:hlinkClick r:id="rId4"/>
          </p:cNvPr>
          <p:cNvSpPr/>
          <p:nvPr/>
        </p:nvSpPr>
        <p:spPr>
          <a:xfrm>
            <a:off x="3291840" y="5120640"/>
            <a:ext cx="5577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1500"/>
              <a:buFont typeface="Consolas"/>
              <a:buNone/>
            </a:pPr>
            <a:r>
              <a:rPr b="1" i="0" lang="en-US" sz="1500" u="sng" cap="none" strike="noStrike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github.com/felipeSepulvida/Archeos-Society-GPMS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9"/>
          <p:cNvSpPr/>
          <p:nvPr/>
        </p:nvSpPr>
        <p:spPr>
          <a:xfrm flipH="1">
            <a:off x="0" y="0"/>
            <a:ext cx="12191695" cy="6858000"/>
          </a:xfrm>
          <a:prstGeom prst="rtTriangle">
            <a:avLst/>
          </a:prstGeom>
          <a:solidFill>
            <a:srgbClr val="0F1F35"/>
          </a:solidFill>
          <a:ln cap="flat" cmpd="sng" w="12700">
            <a:solidFill>
              <a:srgbClr val="0F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</a:t>
            </a:r>
            <a:endParaRPr/>
          </a:p>
        </p:txBody>
      </p:sp>
      <p:sp>
        <p:nvSpPr>
          <p:cNvPr id="439" name="Google Shape;439;p19"/>
          <p:cNvSpPr/>
          <p:nvPr/>
        </p:nvSpPr>
        <p:spPr>
          <a:xfrm>
            <a:off x="5175504" y="1280160"/>
            <a:ext cx="1828800" cy="1828800"/>
          </a:xfrm>
          <a:prstGeom prst="ellipse">
            <a:avLst/>
          </a:prstGeom>
          <a:solidFill>
            <a:srgbClr val="1F3A5C"/>
          </a:solidFill>
          <a:ln cap="flat" cmpd="sng" w="12700">
            <a:solidFill>
              <a:srgbClr val="1F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9"/>
          <p:cNvSpPr/>
          <p:nvPr/>
        </p:nvSpPr>
        <p:spPr>
          <a:xfrm>
            <a:off x="457200" y="33832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A3E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BA3E0"/>
                </a:solidFill>
                <a:latin typeface="Calibri"/>
                <a:ea typeface="Calibri"/>
                <a:cs typeface="Calibri"/>
                <a:sym typeface="Calibri"/>
              </a:rPr>
              <a:t>Perguntas e discussão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Archeos Society  </a:t>
            </a:r>
            <a:r>
              <a:rPr lang="en-US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0" i="0" lang="en-US" sz="14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 Trabalho GPMS </a:t>
            </a:r>
            <a:r>
              <a:rPr lang="en-US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0" i="0" lang="en-US" sz="14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2026.1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Diego Cruz Camargo  </a:t>
            </a:r>
            <a:r>
              <a:rPr lang="en-US" sz="1300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0" i="0" lang="en-US" sz="1300" u="none" cap="none" strike="noStrik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  Felipe Sepulvida Engel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p19" title="Captura_de_Tela_2026-05-14_às_17.25.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9288" y="1673862"/>
            <a:ext cx="1522950" cy="104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